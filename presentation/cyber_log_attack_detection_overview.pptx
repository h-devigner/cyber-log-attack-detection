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Rows</c:v>
                </c:pt>
              </c:strCache>
            </c:strRef>
          </c:tx>
          <c:spPr>
            <a:solidFill>
              <a:srgbClr val="2A6F97"/>
            </a:solidFill>
          </c:spPr>
          <c:cat>
            <c:strRef>
              <c:f>Sheet1!$A$2:$A$4</c:f>
              <c:strCache>
                <c:ptCount val="3"/>
                <c:pt idx="0">
                  <c:v>Firewall</c:v>
                </c:pt>
                <c:pt idx="1">
                  <c:v>Web</c:v>
                </c:pt>
                <c:pt idx="2">
                  <c:v>SSH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27000</c:v>
                </c:pt>
                <c:pt idx="1">
                  <c:v>24000</c:v>
                </c:pt>
                <c:pt idx="2">
                  <c:v>20000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Macro F1</c:v>
                </c:pt>
              </c:strCache>
            </c:strRef>
          </c:tx>
          <c:spPr>
            <a:solidFill>
              <a:srgbClr val="3D8E6D"/>
            </a:solidFill>
          </c:spPr>
          <c:cat>
            <c:strRef>
              <c:f>Sheet1!$A$2:$A$5</c:f>
              <c:strCache>
                <c:ptCount val="4"/>
                <c:pt idx="0">
                  <c:v>Binary</c:v>
                </c:pt>
                <c:pt idx="1">
                  <c:v>Category</c:v>
                </c:pt>
                <c:pt idx="2">
                  <c:v>Binary baseline</c:v>
                </c:pt>
                <c:pt idx="3">
                  <c:v>Category baseline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0.9929</c:v>
                </c:pt>
                <c:pt idx="1">
                  <c:v>0.9447</c:v>
                </c:pt>
                <c:pt idx="2">
                  <c:v>0.3371</c:v>
                </c:pt>
                <c:pt idx="3">
                  <c:v>0.0507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32B"/>
                </a:solidFill>
              </a:defRPr>
            </a:pPr>
            <a:r>
              <a:t>Cyber Log Attack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86370"/>
                </a:solidFill>
              </a:defRPr>
            </a:pPr>
            <a:r>
              <a:t>SSH, web-server, and firewall attack detection with machine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56248"/>
            <a:ext cx="12188952" cy="36576"/>
          </a:xfrm>
          <a:prstGeom prst="rect">
            <a:avLst/>
          </a:prstGeom>
          <a:solidFill>
            <a:srgbClr val="D2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370"/>
                </a:solidFill>
              </a:defRPr>
            </a:pPr>
            <a:r>
              <a:t>Cyber Log Attack Detection |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232B"/>
                </a:solidFill>
              </a:defRPr>
            </a:pPr>
            <a:r>
              <a:t>A two-pass ML pipeline: first detect attack vs normal, then classify attack type with source-specific specialists.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337560"/>
            <a:ext cx="3383280" cy="1143000"/>
          </a:xfrm>
          <a:prstGeom prst="roundRect">
            <a:avLst/>
          </a:prstGeom>
          <a:solidFill>
            <a:srgbClr val="F7F9FA"/>
          </a:solidFill>
          <a:ln w="19050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3447288"/>
            <a:ext cx="30540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2A6F97"/>
                </a:solidFill>
              </a:defRPr>
            </a:pPr>
            <a: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776472"/>
            <a:ext cx="30540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C232B"/>
                </a:solidFill>
              </a:defRPr>
            </a:pPr>
            <a:r>
              <a:t>Public logs + synthetic coverage for missing labels and scenarios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3337560"/>
            <a:ext cx="3383280" cy="1143000"/>
          </a:xfrm>
          <a:prstGeom prst="roundRect">
            <a:avLst/>
          </a:prstGeom>
          <a:solidFill>
            <a:srgbClr val="F7F9FA"/>
          </a:solidFill>
          <a:ln w="19050">
            <a:solidFill>
              <a:srgbClr val="3D8E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3447288"/>
            <a:ext cx="30540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3D8E6D"/>
                </a:solidFill>
              </a:defRPr>
            </a:pPr>
            <a:r>
              <a:t>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3776472"/>
            <a:ext cx="30540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C232B"/>
                </a:solidFill>
              </a:defRPr>
            </a:pPr>
            <a:r>
              <a:t>Unified binary detector plus SSH/web/firewall category specialists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3337560"/>
            <a:ext cx="3383280" cy="1143000"/>
          </a:xfrm>
          <a:prstGeom prst="roundRect">
            <a:avLst/>
          </a:prstGeom>
          <a:solidFill>
            <a:srgbClr val="F7F9FA"/>
          </a:solidFill>
          <a:ln w="19050">
            <a:solidFill>
              <a:srgbClr val="E7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1" y="3447288"/>
            <a:ext cx="30540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E7A646"/>
                </a:solidFill>
              </a:defRPr>
            </a:pPr>
            <a:r>
              <a:t>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3776472"/>
            <a:ext cx="30540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C232B"/>
                </a:solidFill>
              </a:defRPr>
            </a:pPr>
            <a:r>
              <a:t>Scenario batch plus Podman ELK ingestion with Kibana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32B"/>
                </a:solidFill>
              </a:defRPr>
            </a:pPr>
            <a:r>
              <a:t>Problem And Goal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56248"/>
            <a:ext cx="12188952" cy="36576"/>
          </a:xfrm>
          <a:prstGeom prst="rect">
            <a:avLst/>
          </a:prstGeom>
          <a:solidFill>
            <a:srgbClr val="D2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60196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370"/>
                </a:solidFill>
              </a:defRPr>
            </a:pPr>
            <a:r>
              <a:t>Cyber Log Attack Detection |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6984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C232B"/>
                </a:solidFill>
              </a:defRPr>
            </a:pPr>
            <a:r>
              <a:t>Security teams receive noisy SSH, web, and firewall logs.</a:t>
            </a:r>
          </a:p>
          <a:p>
            <a:pPr>
              <a:spcAft>
                <a:spcPts val="800"/>
              </a:spcAft>
              <a:defRPr sz="1800">
                <a:solidFill>
                  <a:srgbClr val="1C232B"/>
                </a:solidFill>
              </a:defRPr>
            </a:pPr>
            <a:r>
              <a:t>A single log line is not always enough; context and source type matter.</a:t>
            </a:r>
          </a:p>
          <a:p>
            <a:pPr>
              <a:spcAft>
                <a:spcPts val="800"/>
              </a:spcAft>
              <a:defRPr sz="1800">
                <a:solidFill>
                  <a:srgbClr val="1C232B"/>
                </a:solidFill>
              </a:defRPr>
            </a:pPr>
            <a:r>
              <a:t>Goal: build a repeatable data-science pipeline from logs to EDA, modeling, evaluation, and demo scoring.</a:t>
            </a:r>
          </a:p>
          <a:p>
            <a:pPr>
              <a:spcAft>
                <a:spcPts val="800"/>
              </a:spcAft>
              <a:defRPr sz="1800">
                <a:solidFill>
                  <a:srgbClr val="1C232B"/>
                </a:solidFill>
              </a:defRPr>
            </a:pPr>
            <a:r>
              <a:t>Output: normal vs attack first, attack category second.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32B"/>
                </a:solidFill>
              </a:defRPr>
            </a:pPr>
            <a:r>
              <a:t>Data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56248"/>
            <a:ext cx="12188952" cy="36576"/>
          </a:xfrm>
          <a:prstGeom prst="rect">
            <a:avLst/>
          </a:prstGeom>
          <a:solidFill>
            <a:srgbClr val="D2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60196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370"/>
                </a:solidFill>
              </a:defRPr>
            </a:pPr>
            <a:r>
              <a:t>Cyber Log Attack Detection | 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3444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Public source</a:t>
                      </a:r>
                    </a:p>
                  </a:txBody>
                  <a:tcPr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Synthetic?</a:t>
                      </a:r>
                    </a:p>
                  </a:txBody>
                  <a:tcPr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Label caveat</a:t>
                      </a:r>
                    </a:p>
                  </a:txBody>
                  <a:tcPr>
                    <a:solidFill>
                      <a:srgbClr val="2A6F9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Firewall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UCI firewall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Action field used as weak label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Web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NASA HTTP access logs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Public rows normal; attacks simulated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SSH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Zenodo SSH honeypot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Attack-heavy; normal SSH simulated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051560" y="3337560"/>
          <a:ext cx="9692640" cy="2423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32B"/>
                </a:solidFill>
              </a:defRPr>
            </a:pPr>
            <a:r>
              <a:t>Why Synthetic Data Was Needed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56248"/>
            <a:ext cx="12188952" cy="36576"/>
          </a:xfrm>
          <a:prstGeom prst="rect">
            <a:avLst/>
          </a:prstGeom>
          <a:solidFill>
            <a:srgbClr val="D2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60196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370"/>
                </a:solidFill>
              </a:defRPr>
            </a:pPr>
            <a:r>
              <a:t>Cyber Log Attack Detection |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474720" cy="1234440"/>
          </a:xfrm>
          <a:prstGeom prst="roundRect">
            <a:avLst/>
          </a:prstGeom>
          <a:solidFill>
            <a:srgbClr val="F7F9FA"/>
          </a:solidFill>
          <a:ln w="19050">
            <a:solidFill>
              <a:srgbClr val="CC5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344168"/>
            <a:ext cx="31455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CC5048"/>
                </a:solidFill>
              </a:defRPr>
            </a:pPr>
            <a:r>
              <a:t>Coverage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673352"/>
            <a:ext cx="314553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C232B"/>
                </a:solidFill>
              </a:defRPr>
            </a:pPr>
            <a:r>
              <a:t>Public logs rarely cover normal and attack behavior with clean labels in one place.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34440"/>
            <a:ext cx="3474720" cy="1234440"/>
          </a:xfrm>
          <a:prstGeom prst="roundRect">
            <a:avLst/>
          </a:prstGeom>
          <a:solidFill>
            <a:srgbClr val="F7F9FA"/>
          </a:solidFill>
          <a:ln w="19050">
            <a:solidFill>
              <a:srgbClr val="E7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344168"/>
            <a:ext cx="31455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E7A646"/>
                </a:solidFill>
              </a:defRPr>
            </a:pPr>
            <a:r>
              <a:t>Class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1673352"/>
            <a:ext cx="314553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C232B"/>
                </a:solidFill>
              </a:defRPr>
            </a:pPr>
            <a:r>
              <a:t>Synthetic rows ensure every demo category has enough examples to train and evaluate.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34440"/>
            <a:ext cx="3474720" cy="1234440"/>
          </a:xfrm>
          <a:prstGeom prst="roundRect">
            <a:avLst/>
          </a:prstGeom>
          <a:solidFill>
            <a:srgbClr val="F7F9FA"/>
          </a:solidFill>
          <a:ln w="19050">
            <a:solidFill>
              <a:srgbClr val="3D8E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1344168"/>
            <a:ext cx="31455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3D8E6D"/>
                </a:solidFill>
              </a:defRPr>
            </a:pPr>
            <a:r>
              <a:t>Prototype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1673352"/>
            <a:ext cx="314553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C232B"/>
                </a:solidFill>
              </a:defRPr>
            </a:pPr>
            <a:r>
              <a:t>It lets the pipeline be built before real organization logs are available.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46120"/>
            <a:ext cx="10241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Synthetic data is useful for bootstrapping, not final proof.</a:t>
            </a:r>
          </a:p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Production readiness needs real logs and analyst-reviewed labels.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32B"/>
                </a:solidFill>
              </a:defRPr>
            </a:pPr>
            <a:r>
              <a:t>Normalized Feature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56248"/>
            <a:ext cx="12188952" cy="36576"/>
          </a:xfrm>
          <a:prstGeom prst="rect">
            <a:avLst/>
          </a:prstGeom>
          <a:solidFill>
            <a:srgbClr val="D2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60196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370"/>
                </a:solidFill>
              </a:defRPr>
            </a:pPr>
            <a:r>
              <a:t>Cyber Log Attack Detection |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9728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C232B"/>
                </a:solidFill>
              </a:defRPr>
            </a:pPr>
            <a:r>
              <a:t>All sources are converted into one 46-column table.</a:t>
            </a:r>
          </a:p>
          <a:p>
            <a:pPr>
              <a:spcAft>
                <a:spcPts val="800"/>
              </a:spcAft>
              <a:defRPr sz="1700">
                <a:solidFill>
                  <a:srgbClr val="1C232B"/>
                </a:solidFill>
              </a:defRPr>
            </a:pPr>
            <a:r>
              <a:t>Common features: log source, event type, protocol, service, timestamp-derived fields.</a:t>
            </a:r>
          </a:p>
          <a:p>
            <a:pPr>
              <a:spcAft>
                <a:spcPts val="800"/>
              </a:spcAft>
              <a:defRPr sz="1700">
                <a:solidFill>
                  <a:srgbClr val="1C232B"/>
                </a:solidFill>
              </a:defRPr>
            </a:pPr>
            <a:r>
              <a:t>SSH features: auth result, username type, failed login count, success after failures.</a:t>
            </a:r>
          </a:p>
          <a:p>
            <a:pPr>
              <a:spcAft>
                <a:spcPts val="800"/>
              </a:spcAft>
              <a:defRPr sz="1700">
                <a:solidFill>
                  <a:srgbClr val="1C232B"/>
                </a:solidFill>
              </a:defRPr>
            </a:pPr>
            <a:r>
              <a:t>Web features: method, status family, URL length, query length, suspicious tokens, user-agent family.</a:t>
            </a:r>
          </a:p>
          <a:p>
            <a:pPr>
              <a:spcAft>
                <a:spcPts val="800"/>
              </a:spcAft>
              <a:defRPr sz="1700">
                <a:solidFill>
                  <a:srgbClr val="1C232B"/>
                </a:solidFill>
              </a:defRPr>
            </a:pPr>
            <a:r>
              <a:t>Firewall features: action flags, ports, service, packet/byte volume, source event count.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32B"/>
                </a:solidFill>
              </a:defRPr>
            </a:pPr>
            <a:r>
              <a:t>Window Aggregation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56248"/>
            <a:ext cx="12188952" cy="36576"/>
          </a:xfrm>
          <a:prstGeom prst="rect">
            <a:avLst/>
          </a:prstGeom>
          <a:solidFill>
            <a:srgbClr val="D2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60196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370"/>
                </a:solidFill>
              </a:defRPr>
            </a:pPr>
            <a:r>
              <a:t>Cyber Log Attack Detection | 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3444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50292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Current state</a:t>
                      </a:r>
                    </a:p>
                  </a:txBody>
                  <a:tcPr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Production recommendation</a:t>
                      </a:r>
                    </a:p>
                  </a:txBody>
                  <a:tcPr>
                    <a:solidFill>
                      <a:srgbClr val="2A6F9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SSH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Partial: ssh_failed_logins_10m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5-10 min per source IP/user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Web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Mostly per request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5-10 min for scanners; one request can flag SQLi/XSS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Firewall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Partial: src_event_count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5 min port scan; 10-30 min outbound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3794760"/>
            <a:ext cx="10058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Current model is tabular, not a sequence model.</a:t>
            </a:r>
          </a:p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Next major improvement: compute real rolling windows before scoring.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32B"/>
                </a:solidFill>
              </a:defRPr>
            </a:pPr>
            <a:r>
              <a:t>Model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56248"/>
            <a:ext cx="12188952" cy="36576"/>
          </a:xfrm>
          <a:prstGeom prst="rect">
            <a:avLst/>
          </a:prstGeom>
          <a:solidFill>
            <a:srgbClr val="D2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60196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370"/>
                </a:solidFill>
              </a:defRPr>
            </a:pPr>
            <a:r>
              <a:t>Cyber Log Attack Detection |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3383280" cy="1188720"/>
          </a:xfrm>
          <a:prstGeom prst="roundRect">
            <a:avLst/>
          </a:prstGeom>
          <a:solidFill>
            <a:srgbClr val="F7F9FA"/>
          </a:solidFill>
          <a:ln w="19050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435607"/>
            <a:ext cx="30540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2A6F97"/>
                </a:solidFill>
              </a:defRPr>
            </a:pPr>
            <a:r>
              <a:t>Pass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1764792"/>
            <a:ext cx="3054096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C232B"/>
                </a:solidFill>
              </a:defRPr>
            </a:pPr>
            <a:r>
              <a:t>Unified binary detector predicts normal vs attack across all log sources.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25880"/>
            <a:ext cx="3383280" cy="1188720"/>
          </a:xfrm>
          <a:prstGeom prst="roundRect">
            <a:avLst/>
          </a:prstGeom>
          <a:solidFill>
            <a:srgbClr val="F7F9FA"/>
          </a:solidFill>
          <a:ln w="19050">
            <a:solidFill>
              <a:srgbClr val="E7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435607"/>
            <a:ext cx="30540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E7A646"/>
                </a:solidFill>
              </a:defRPr>
            </a:pPr>
            <a:r>
              <a:t>Routing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1764792"/>
            <a:ext cx="3054096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C232B"/>
                </a:solidFill>
              </a:defRPr>
            </a:pPr>
            <a:r>
              <a:t>Only attack rows continue. log_source chooses ssh, web, or firewall specialist.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25880"/>
            <a:ext cx="3383280" cy="1188720"/>
          </a:xfrm>
          <a:prstGeom prst="roundRect">
            <a:avLst/>
          </a:prstGeom>
          <a:solidFill>
            <a:srgbClr val="F7F9FA"/>
          </a:solidFill>
          <a:ln w="19050">
            <a:solidFill>
              <a:srgbClr val="3D8E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435607"/>
            <a:ext cx="30540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3D8E6D"/>
                </a:solidFill>
              </a:defRPr>
            </a:pPr>
            <a:r>
              <a:t>Pass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1764792"/>
            <a:ext cx="3054096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C232B"/>
                </a:solidFill>
              </a:defRPr>
            </a:pPr>
            <a:r>
              <a:t>Specialist category detector predicts the attack type.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91840"/>
            <a:ext cx="1069848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C232B"/>
                </a:solidFill>
              </a:defRPr>
            </a:pPr>
            <a:r>
              <a:t>Model: SGDClassifier with logistic loss, elastic-net regularization, balanced class weights, and early stopping.</a:t>
            </a:r>
          </a:p>
          <a:p>
            <a:pPr>
              <a:spcAft>
                <a:spcPts val="800"/>
              </a:spcAft>
              <a:defRPr sz="1700">
                <a:solidFill>
                  <a:srgbClr val="1C232B"/>
                </a:solidFill>
              </a:defRPr>
            </a:pPr>
            <a:r>
              <a:t>Split: 80/20 stratified train/test; 10% internal validation for early stopping.</a:t>
            </a:r>
          </a:p>
          <a:p>
            <a:pPr>
              <a:spcAft>
                <a:spcPts val="800"/>
              </a:spcAft>
              <a:defRPr sz="1700">
                <a:solidFill>
                  <a:srgbClr val="1C232B"/>
                </a:solidFill>
              </a:defRPr>
            </a:pPr>
            <a:r>
              <a:t>Baselines: most-frequent-class dummy models.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32B"/>
                </a:solidFill>
              </a:defRPr>
            </a:pPr>
            <a:r>
              <a:t>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56248"/>
            <a:ext cx="12188952" cy="36576"/>
          </a:xfrm>
          <a:prstGeom prst="rect">
            <a:avLst/>
          </a:prstGeom>
          <a:solidFill>
            <a:srgbClr val="D2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60196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370"/>
                </a:solidFill>
              </a:defRPr>
            </a:pPr>
            <a:r>
              <a:t>Cyber Log Attack Detection | 8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1143000"/>
          <a:ext cx="5715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720840" y="1325880"/>
          <a:ext cx="48463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2423160"/>
              </a:tblGrid>
              <a:tr h="50292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>
                    <a:solidFill>
                      <a:srgbClr val="2A6F9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Binary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Unified binary macro F1: 0.9929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Unified category macro F1: 0.9447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Specialists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Web and firewall category specialists improved diagnosis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Final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Unified binary + specialist categories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12280" y="416052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C232B"/>
                </a:solidFill>
              </a:defRPr>
            </a:pPr>
            <a:r>
              <a:t>Metrics prove pipeline behavior on current data, not production readiness.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32B"/>
                </a:solidFill>
              </a:defRPr>
            </a:pPr>
            <a:r>
              <a:t>Scenario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56248"/>
            <a:ext cx="12188952" cy="36576"/>
          </a:xfrm>
          <a:prstGeom prst="rect">
            <a:avLst/>
          </a:prstGeom>
          <a:solidFill>
            <a:srgbClr val="D2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60196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370"/>
                </a:solidFill>
              </a:defRPr>
            </a:pPr>
            <a:r>
              <a:t>Cyber Log Attack Detection | 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234440"/>
          <a:ext cx="47548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</a:tblGrid>
              <a:tr h="38862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2A6F97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Rows scored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Expected attacks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Predicted attacks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Binary accuracy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0.944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Category accuracy on attacks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0.833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26480" y="1325880"/>
            <a:ext cx="5303520" cy="2423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C232B"/>
                </a:solidFill>
              </a:defRPr>
            </a:pPr>
            <a:r>
              <a:t>One SQL injection was categorized as XSS.</a:t>
            </a:r>
          </a:p>
          <a:p>
            <a:pPr>
              <a:spcAft>
                <a:spcPts val="800"/>
              </a:spcAft>
              <a:defRPr sz="1700">
                <a:solidFill>
                  <a:srgbClr val="1C232B"/>
                </a:solidFill>
              </a:defRPr>
            </a:pPr>
            <a:r>
              <a:t>One suspicious outbound firewall event was missed by the binary gate.</a:t>
            </a:r>
          </a:p>
          <a:p>
            <a:pPr>
              <a:spcAft>
                <a:spcPts val="800"/>
              </a:spcAft>
              <a:defRPr sz="1700">
                <a:solidFill>
                  <a:srgbClr val="1C232B"/>
                </a:solidFill>
              </a:defRPr>
            </a:pPr>
            <a:r>
              <a:t>These visible mistakes are useful: they show where more real data and better windows are needed.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32B"/>
                </a:solidFill>
              </a:defRPr>
            </a:pPr>
            <a:r>
              <a:t>ELK With Podman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56248"/>
            <a:ext cx="12188952" cy="36576"/>
          </a:xfrm>
          <a:prstGeom prst="rect">
            <a:avLst/>
          </a:prstGeom>
          <a:solidFill>
            <a:srgbClr val="D2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60196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370"/>
                </a:solidFill>
              </a:defRPr>
            </a:pPr>
            <a:r>
              <a:t>Cyber Log Attack Detection |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78992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C232B"/>
                </a:solidFill>
              </a:defRPr>
            </a:pPr>
            <a:r>
              <a:t>Logstash parses sample SSH, web, and firewall logs.</a:t>
            </a:r>
          </a:p>
          <a:p>
            <a:pPr>
              <a:spcAft>
                <a:spcPts val="800"/>
              </a:spcAft>
              <a:defRPr sz="1800">
                <a:solidFill>
                  <a:srgbClr val="1C232B"/>
                </a:solidFill>
              </a:defRPr>
            </a:pPr>
            <a:r>
              <a:t>Elasticsearch stores normalized events.</a:t>
            </a:r>
          </a:p>
          <a:p>
            <a:pPr>
              <a:spcAft>
                <a:spcPts val="800"/>
              </a:spcAft>
              <a:defRPr sz="1800">
                <a:solidFill>
                  <a:srgbClr val="1C232B"/>
                </a:solidFill>
              </a:defRPr>
            </a:pPr>
            <a:r>
              <a:t>Kibana supports analyst inspection and dashboards.</a:t>
            </a:r>
          </a:p>
          <a:p>
            <a:pPr>
              <a:spcAft>
                <a:spcPts val="800"/>
              </a:spcAft>
              <a:defRPr sz="1800">
                <a:solidFill>
                  <a:srgbClr val="1C232B"/>
                </a:solidFill>
              </a:defRPr>
            </a:pPr>
            <a:r>
              <a:t>Podman starts the local stack with: podman-compose -f compose.yaml up -d</a:t>
            </a:r>
          </a:p>
          <a:p>
            <a:pPr>
              <a:spcAft>
                <a:spcPts val="800"/>
              </a:spcAft>
              <a:defRPr sz="1800">
                <a:solidFill>
                  <a:srgbClr val="1C232B"/>
                </a:solidFill>
              </a:defRPr>
            </a:pPr>
            <a:r>
              <a:t>ELK is ingestion/exploration; ML scoring is a separate pipeline.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32B"/>
                </a:solidFill>
              </a:defRPr>
            </a:pPr>
            <a:r>
              <a:t>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56248"/>
            <a:ext cx="12188952" cy="36576"/>
          </a:xfrm>
          <a:prstGeom prst="rect">
            <a:avLst/>
          </a:prstGeom>
          <a:solidFill>
            <a:srgbClr val="D2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60196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370"/>
                </a:solidFill>
              </a:defRPr>
            </a:pPr>
            <a:r>
              <a:t>Cyber Log Attack Detection | 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3444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Why it matters</a:t>
                      </a:r>
                    </a:p>
                  </a:txBody>
                  <a:tcPr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Fix</a:t>
                      </a:r>
                    </a:p>
                  </a:txBody>
                  <a:tcPr>
                    <a:solidFill>
                      <a:srgbClr val="2A6F9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Synthetic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Can be too clean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Add real labeled logs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Weak labels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Some labels are inferred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Analyst review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Random split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May be optimistic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Chronological split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Partial windows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Scans are time patterns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C232B"/>
                          </a:solidFill>
                        </a:defRPr>
                      </a:pPr>
                      <a:r>
                        <a:t>Real rolling aggregation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32B"/>
                </a:solidFill>
              </a:defRPr>
            </a:pPr>
            <a: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56248"/>
            <a:ext cx="12188952" cy="36576"/>
          </a:xfrm>
          <a:prstGeom prst="rect">
            <a:avLst/>
          </a:prstGeom>
          <a:solidFill>
            <a:srgbClr val="D2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60196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370"/>
                </a:solidFill>
              </a:defRPr>
            </a:pPr>
            <a:r>
              <a:t>Cyber Log Attack Detection |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78992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C232B"/>
                </a:solidFill>
              </a:defRPr>
            </a:pPr>
            <a:r>
              <a:t>Collect real SSH, web, and firewall logs from the target environment.</a:t>
            </a:r>
          </a:p>
          <a:p>
            <a:pPr>
              <a:spcAft>
                <a:spcPts val="800"/>
              </a:spcAft>
              <a:defRPr sz="1800">
                <a:solidFill>
                  <a:srgbClr val="1C232B"/>
                </a:solidFill>
              </a:defRPr>
            </a:pPr>
            <a:r>
              <a:t>Create analyst-reviewed labels and track false positives.</a:t>
            </a:r>
          </a:p>
          <a:p>
            <a:pPr>
              <a:spcAft>
                <a:spcPts val="800"/>
              </a:spcAft>
              <a:defRPr sz="1800">
                <a:solidFill>
                  <a:srgbClr val="1C232B"/>
                </a:solidFill>
              </a:defRPr>
            </a:pPr>
            <a:r>
              <a:t>Implement rolling-window features for SSH brute force, web scanners, firewall scans, and outbound traffic.</a:t>
            </a:r>
          </a:p>
          <a:p>
            <a:pPr>
              <a:spcAft>
                <a:spcPts val="800"/>
              </a:spcAft>
              <a:defRPr sz="1800">
                <a:solidFill>
                  <a:srgbClr val="1C232B"/>
                </a:solidFill>
              </a:defRPr>
            </a:pPr>
            <a:r>
              <a:t>Use chronological train/validation/test splits.</a:t>
            </a:r>
          </a:p>
          <a:p>
            <a:pPr>
              <a:spcAft>
                <a:spcPts val="800"/>
              </a:spcAft>
              <a:defRPr sz="1800">
                <a:solidFill>
                  <a:srgbClr val="1C232B"/>
                </a:solidFill>
              </a:defRPr>
            </a:pPr>
            <a:r>
              <a:t>Connect ELK export or an API to the hybrid ML scorer.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32B"/>
                </a:solidFill>
              </a:defRPr>
            </a:pPr>
            <a:r>
              <a:t>Final Takeaway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56248"/>
            <a:ext cx="12188952" cy="36576"/>
          </a:xfrm>
          <a:prstGeom prst="rect">
            <a:avLst/>
          </a:prstGeom>
          <a:solidFill>
            <a:srgbClr val="D2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60196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370"/>
                </a:solidFill>
              </a:defRPr>
            </a:pPr>
            <a:r>
              <a:t>Cyber Log Attack Detection |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02870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C232B"/>
                </a:solidFill>
              </a:defRPr>
            </a:pPr>
            <a:r>
              <a:t>This project demonstrates a complete cybersecurity log ML pipeline: public and synthetic data, normalization, EDA, supervised modeling, unified vs specialist comparison, scenario testing, and ELK ingestion. The next step is validation on real analyst-labeled operational logs.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